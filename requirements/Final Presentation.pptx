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5"/>
    <p:sldMasterId id="214748370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Arimo"/>
      <p:regular r:id="rId35"/>
      <p:bold r:id="rId36"/>
      <p:italic r:id="rId37"/>
      <p:boldItalic r:id="rId38"/>
    </p:embeddedFont>
    <p:embeddedFont>
      <p:font typeface="Libre Baskerville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D49FB8-8760-4465-8698-629A192C3057}">
  <a:tblStyle styleId="{A1D49FB8-8760-4465-8698-629A192C30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Baskerville-bold.fntdata"/><Relationship Id="rId42" Type="http://schemas.openxmlformats.org/officeDocument/2006/relationships/font" Target="fonts/LibreBaskerville-boldItalic.fntdata"/><Relationship Id="rId41" Type="http://schemas.openxmlformats.org/officeDocument/2006/relationships/font" Target="fonts/LibreBaskervill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33" Type="http://schemas.openxmlformats.org/officeDocument/2006/relationships/font" Target="fonts/RobotoMedium-italic.fntdata"/><Relationship Id="rId32" Type="http://schemas.openxmlformats.org/officeDocument/2006/relationships/font" Target="fonts/RobotoMedium-bold.fntdata"/><Relationship Id="rId35" Type="http://schemas.openxmlformats.org/officeDocument/2006/relationships/font" Target="fonts/Arimo-regular.fntdata"/><Relationship Id="rId34" Type="http://schemas.openxmlformats.org/officeDocument/2006/relationships/font" Target="fonts/RobotoMedium-boldItalic.fntdata"/><Relationship Id="rId37" Type="http://schemas.openxmlformats.org/officeDocument/2006/relationships/font" Target="fonts/Arimo-italic.fntdata"/><Relationship Id="rId36" Type="http://schemas.openxmlformats.org/officeDocument/2006/relationships/font" Target="fonts/Arimo-bold.fntdata"/><Relationship Id="rId39" Type="http://schemas.openxmlformats.org/officeDocument/2006/relationships/font" Target="fonts/LibreBaskerville-regular.fntdata"/><Relationship Id="rId38" Type="http://schemas.openxmlformats.org/officeDocument/2006/relationships/font" Target="fonts/Arimo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29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9d568739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9d568739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Myles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9d568739d_1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d9d568739d_1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Myles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9d568739d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d9d568739d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Myles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d9d568739d_1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d9d568739d_1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d9d568739d_1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d9d568739d_1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Dillon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9d568739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9d568739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Dillon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9d568739d_1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d9d568739d_1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Myles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9d568739d_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d9d568739d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d9d568739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d9d568739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d9d568739d_1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d9d568739d_1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d9d568739d_1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d9d568739d_1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train dense layers for training the head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Partly unfreeze the backbone to fine tune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overfitting, but we didn’t have time to try 200 epochs for 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10 hours of training for our current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see the gap because of dropout and data augmentation, so validation will be better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d9d568739d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d9d568739d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Ivie</a:t>
            </a:r>
            <a:br>
              <a:rPr lang="en"/>
            </a:br>
            <a:r>
              <a:rPr lang="en"/>
              <a:t>Images are from film, and they do a bit better at predicting the 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Most likely cuz of the type of lightings and such in film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d9d568739d_1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d9d568739d_1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9d568739d_1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9d568739d_1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Ivie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d9d568739d_1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d9d568739d_1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Ivie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d9d568739d_1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d9d568739d_1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Ivie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d9d568739d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d9d568739d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d9d568739d_1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d9d568739d_1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Dillon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d9d568739d_1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d9d568739d_1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Dillon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1" name="Google Shape;191;p36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7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99" name="Google Shape;199;p3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8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7" name="Google Shape;207;p38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8" name="Google Shape;208;p38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2" name="Google Shape;212;p38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13" name="Google Shape;21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8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6" name="Google Shape;216;p38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7" name="Google Shape;217;p38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8" name="Google Shape;218;p38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9" name="Google Shape;219;p38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0" name="Google Shape;220;p38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25" name="Google Shape;225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39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9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9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35" name="Google Shape;235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8" name="Google Shape;238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0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40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" name="Google Shape;253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41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5" name="Google Shape;265;p41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67" name="Google Shape;267;p4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41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1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4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7" name="Google Shape;287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4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1" name="Google Shape;291;p43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3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3" name="Google Shape;303;p43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3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43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8" name="Google Shape;318;p45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320" name="Google Shape;320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45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8" name="Google Shape;328;p4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0" name="Google Shape;330;p46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46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34" name="Google Shape;334;p4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7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7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47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46" name="Google Shape;346;p4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7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47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4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4" name="Google Shape;354;p48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5" name="Google Shape;355;p48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8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7" name="Google Shape;357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8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9" name="Google Shape;359;p48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0" name="Google Shape;360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65" name="Google Shape;365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5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50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5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78" name="Google Shape;378;p5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5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0" name="Google Shape;380;p5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1" name="Google Shape;381;p5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2" name="Google Shape;382;p5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5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4" name="Google Shape;384;p5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5" name="Google Shape;385;p5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6" name="Google Shape;386;p5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5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8" name="Google Shape;388;p5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5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0" name="Google Shape;390;p5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1" name="Google Shape;391;p5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2" name="Google Shape;392;p5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5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5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p50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00" name="Google Shape;400;p50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50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02" name="Google Shape;402;p50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0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51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409" name="Google Shape;409;p5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51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1" name="Google Shape;411;p5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2" name="Google Shape;412;p51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1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1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1" name="Google Shape;421;p51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2" name="Google Shape;422;p51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3" name="Google Shape;423;p51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4" name="Google Shape;424;p51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5" name="Google Shape;425;p5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2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30" name="Google Shape;430;p5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5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33" name="Google Shape;433;p52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2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2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2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2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52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9" name="Google Shape;439;p52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0" name="Google Shape;440;p52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52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2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3" name="Google Shape;443;p52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4" name="Google Shape;444;p52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5" name="Google Shape;445;p52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6" name="Google Shape;446;p52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7" name="Google Shape;447;p52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8" name="Google Shape;448;p52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52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0" name="Google Shape;450;p52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1" name="Google Shape;451;p52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2" name="Google Shape;452;p52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5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5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3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58" name="Google Shape;458;p5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5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53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2" name="Google Shape;462;p53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53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4" name="Google Shape;464;p53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53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6" name="Google Shape;466;p53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7" name="Google Shape;467;p53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8" name="Google Shape;468;p53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9" name="Google Shape;469;p53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53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53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53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53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4" name="Google Shape;474;p53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53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6" name="Google Shape;476;p5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4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2" name="Google Shape;482;p5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83" name="Google Shape;483;p5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5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5" name="Google Shape;485;p5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6" name="Google Shape;486;p54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4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54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4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55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96" name="Google Shape;496;p5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8" name="Google Shape;498;p5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9" name="Google Shape;499;p55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55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5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55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5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04" name="Google Shape;504;p5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5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9" name="Google Shape;509;p56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56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11" name="Google Shape;511;p5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56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56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5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7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9" name="Google Shape;519;p57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7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2" name="Google Shape;522;p5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5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5" name="Google Shape;525;p5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9" name="Google Shape;529;p58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2" name="Google Shape;532;p59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9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9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9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8" name="Google Shape;538;p59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9" name="Google Shape;539;p59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0" name="Google Shape;540;p59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0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45" name="Google Shape;545;p6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6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7" name="Google Shape;547;p6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48" name="Google Shape;548;p60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60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0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60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0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3" name="Google Shape;553;p60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0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5" name="Google Shape;555;p60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0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7" name="Google Shape;557;p60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60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6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3" name="Google Shape;563;p6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6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5" name="Google Shape;565;p6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6" name="Google Shape;566;p61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1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1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1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0" name="Google Shape;570;p61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1" name="Google Shape;571;p61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3" name="Google Shape;573;p6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6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ops-mk.opensource.mieweb.org/" TargetMode="External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ops-mk.opensource.mieweb.org/" TargetMode="External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2" title="Screenshot 2026-04-27 at 5.55.28 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3172" l="-102" r="6941" t="0"/>
          <a:stretch/>
        </p:blipFill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</p:spPr>
      </p:pic>
      <p:sp>
        <p:nvSpPr>
          <p:cNvPr id="580" name="Google Shape;580;p62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Reelize Movie Finder</a:t>
            </a:r>
            <a:endParaRPr b="1"/>
          </a:p>
        </p:txBody>
      </p:sp>
      <p:sp>
        <p:nvSpPr>
          <p:cNvPr id="581" name="Google Shape;581;p62"/>
          <p:cNvSpPr txBox="1"/>
          <p:nvPr>
            <p:ph idx="1" type="subTitle"/>
          </p:nvPr>
        </p:nvSpPr>
        <p:spPr>
          <a:xfrm>
            <a:off x="6112175" y="2649900"/>
            <a:ext cx="29064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Myles, Dillon, Ivie, Max</a:t>
            </a:r>
            <a:endParaRPr b="0"/>
          </a:p>
        </p:txBody>
      </p:sp>
      <p:sp>
        <p:nvSpPr>
          <p:cNvPr id="582" name="Google Shape;582;p62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Course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3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588" name="Google Shape;588;p63"/>
          <p:cNvSpPr txBox="1"/>
          <p:nvPr>
            <p:ph idx="1" type="body"/>
          </p:nvPr>
        </p:nvSpPr>
        <p:spPr>
          <a:xfrm>
            <a:off x="4543850" y="1752125"/>
            <a:ext cx="43500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1</a:t>
            </a:r>
            <a:r>
              <a:rPr lang="en"/>
              <a:t> Project Overview</a:t>
            </a:r>
            <a:br>
              <a:rPr lang="en"/>
            </a:br>
            <a:r>
              <a:rPr i="1" lang="en"/>
              <a:t>2</a:t>
            </a:r>
            <a:r>
              <a:rPr lang="en"/>
              <a:t> Face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3</a:t>
            </a:r>
            <a:r>
              <a:rPr lang="en"/>
              <a:t> Age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4</a:t>
            </a:r>
            <a:r>
              <a:rPr lang="en"/>
              <a:t> 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5</a:t>
            </a:r>
            <a:r>
              <a:rPr lang="en"/>
              <a:t> Project Debrief</a:t>
            </a:r>
            <a:endParaRPr/>
          </a:p>
        </p:txBody>
      </p:sp>
      <p:sp>
        <p:nvSpPr>
          <p:cNvPr id="589" name="Google Shape;589;p6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0" name="Google Shape;590;p63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3"/>
          <p:cNvSpPr txBox="1"/>
          <p:nvPr>
            <p:ph idx="3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pic>
        <p:nvPicPr>
          <p:cNvPr id="592" name="Google Shape;592;p63"/>
          <p:cNvPicPr preferRelativeResize="0"/>
          <p:nvPr/>
        </p:nvPicPr>
        <p:blipFill rotWithShape="1">
          <a:blip r:embed="rId3">
            <a:alphaModFix/>
          </a:blip>
          <a:srcRect b="0" l="4533" r="9769" t="0"/>
          <a:stretch/>
        </p:blipFill>
        <p:spPr>
          <a:xfrm>
            <a:off x="316025" y="273300"/>
            <a:ext cx="3596100" cy="428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4"/>
          <p:cNvSpPr/>
          <p:nvPr/>
        </p:nvSpPr>
        <p:spPr>
          <a:xfrm>
            <a:off x="125700" y="1442900"/>
            <a:ext cx="8892600" cy="3258300"/>
          </a:xfrm>
          <a:prstGeom prst="roundRect">
            <a:avLst>
              <a:gd fmla="val 715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64"/>
          <p:cNvSpPr txBox="1"/>
          <p:nvPr>
            <p:ph type="title"/>
          </p:nvPr>
        </p:nvSpPr>
        <p:spPr>
          <a:xfrm>
            <a:off x="125700" y="125600"/>
            <a:ext cx="8842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pic>
        <p:nvPicPr>
          <p:cNvPr id="599" name="Google Shape;599;p64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80800" y="154875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600" name="Google Shape;600;p64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001588" y="1590975"/>
            <a:ext cx="3392100" cy="13950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601" name="Google Shape;601;p64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5494200" y="154875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602" name="Google Shape;602;p64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7232000" y="154875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603" name="Google Shape;603;p64"/>
          <p:cNvSpPr/>
          <p:nvPr/>
        </p:nvSpPr>
        <p:spPr>
          <a:xfrm>
            <a:off x="446761" y="1724150"/>
            <a:ext cx="514500" cy="5145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04" name="Google Shape;604;p64"/>
          <p:cNvSpPr/>
          <p:nvPr/>
        </p:nvSpPr>
        <p:spPr>
          <a:xfrm>
            <a:off x="491620" y="1769009"/>
            <a:ext cx="424800" cy="4248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605" name="Google Shape;605;p64"/>
          <p:cNvGrpSpPr/>
          <p:nvPr/>
        </p:nvGrpSpPr>
        <p:grpSpPr>
          <a:xfrm>
            <a:off x="2179138" y="1766375"/>
            <a:ext cx="514500" cy="514500"/>
            <a:chOff x="2196150" y="1919375"/>
            <a:chExt cx="514500" cy="514500"/>
          </a:xfrm>
        </p:grpSpPr>
        <p:sp>
          <p:nvSpPr>
            <p:cNvPr id="606" name="Google Shape;606;p64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07" name="Google Shape;607;p64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608" name="Google Shape;608;p64"/>
          <p:cNvGrpSpPr/>
          <p:nvPr/>
        </p:nvGrpSpPr>
        <p:grpSpPr>
          <a:xfrm>
            <a:off x="5677450" y="1724150"/>
            <a:ext cx="514500" cy="514500"/>
            <a:chOff x="5677450" y="1919375"/>
            <a:chExt cx="514500" cy="514500"/>
          </a:xfrm>
        </p:grpSpPr>
        <p:sp>
          <p:nvSpPr>
            <p:cNvPr id="609" name="Google Shape;609;p64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0" name="Google Shape;610;p64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611" name="Google Shape;611;p64"/>
          <p:cNvGrpSpPr/>
          <p:nvPr/>
        </p:nvGrpSpPr>
        <p:grpSpPr>
          <a:xfrm>
            <a:off x="7418100" y="1724150"/>
            <a:ext cx="514500" cy="514500"/>
            <a:chOff x="7418100" y="1919375"/>
            <a:chExt cx="514500" cy="514500"/>
          </a:xfrm>
        </p:grpSpPr>
        <p:sp>
          <p:nvSpPr>
            <p:cNvPr id="612" name="Google Shape;612;p64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3" name="Google Shape;613;p64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14" name="Google Shape;614;p64"/>
          <p:cNvSpPr txBox="1"/>
          <p:nvPr/>
        </p:nvSpPr>
        <p:spPr>
          <a:xfrm>
            <a:off x="421311" y="2713175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Input</a:t>
            </a:r>
            <a:endParaRPr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5" name="Google Shape;615;p64"/>
          <p:cNvSpPr txBox="1"/>
          <p:nvPr/>
        </p:nvSpPr>
        <p:spPr>
          <a:xfrm>
            <a:off x="2832800" y="1928425"/>
            <a:ext cx="1337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Face Model</a:t>
            </a:r>
            <a:endParaRPr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6" name="Google Shape;616;p64"/>
          <p:cNvSpPr txBox="1"/>
          <p:nvPr/>
        </p:nvSpPr>
        <p:spPr>
          <a:xfrm>
            <a:off x="5652384" y="2713175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Search TMDB</a:t>
            </a:r>
            <a:endParaRPr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7" name="Google Shape;617;p64"/>
          <p:cNvSpPr txBox="1"/>
          <p:nvPr/>
        </p:nvSpPr>
        <p:spPr>
          <a:xfrm>
            <a:off x="7392630" y="2713175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Display Results</a:t>
            </a:r>
            <a:endParaRPr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8" name="Google Shape;618;p64"/>
          <p:cNvSpPr txBox="1"/>
          <p:nvPr/>
        </p:nvSpPr>
        <p:spPr>
          <a:xfrm>
            <a:off x="421311" y="3237775"/>
            <a:ext cx="13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User inputs a still image from a movie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9" name="Google Shape;619;p64"/>
          <p:cNvSpPr txBox="1"/>
          <p:nvPr/>
        </p:nvSpPr>
        <p:spPr>
          <a:xfrm>
            <a:off x="2291113" y="2335775"/>
            <a:ext cx="296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Predict each actor’s name based on the image.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0" name="Google Shape;620;p64"/>
          <p:cNvSpPr txBox="1"/>
          <p:nvPr/>
        </p:nvSpPr>
        <p:spPr>
          <a:xfrm>
            <a:off x="5648625" y="3237775"/>
            <a:ext cx="133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Find the movie based on the results of the models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7385291" y="3237775"/>
            <a:ext cx="133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Display on the UI what the distributions are and what the movie predictions are.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622" name="Google Shape;622;p64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004901" y="3151418"/>
            <a:ext cx="3392100" cy="13950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grpSp>
        <p:nvGrpSpPr>
          <p:cNvPr id="623" name="Google Shape;623;p64"/>
          <p:cNvGrpSpPr/>
          <p:nvPr/>
        </p:nvGrpSpPr>
        <p:grpSpPr>
          <a:xfrm>
            <a:off x="2182451" y="3326818"/>
            <a:ext cx="514500" cy="514500"/>
            <a:chOff x="2196150" y="1919375"/>
            <a:chExt cx="514500" cy="514500"/>
          </a:xfrm>
        </p:grpSpPr>
        <p:sp>
          <p:nvSpPr>
            <p:cNvPr id="624" name="Google Shape;624;p64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25" name="Google Shape;625;p64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26" name="Google Shape;626;p64"/>
          <p:cNvSpPr txBox="1"/>
          <p:nvPr/>
        </p:nvSpPr>
        <p:spPr>
          <a:xfrm>
            <a:off x="2832800" y="3470922"/>
            <a:ext cx="1337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Age Model</a:t>
            </a:r>
            <a:endParaRPr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7" name="Google Shape;627;p64"/>
          <p:cNvSpPr txBox="1"/>
          <p:nvPr/>
        </p:nvSpPr>
        <p:spPr>
          <a:xfrm>
            <a:off x="2294426" y="4091443"/>
            <a:ext cx="296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Predict each actor’s age based on the image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8" name="Google Shape;628;p64"/>
          <p:cNvSpPr/>
          <p:nvPr/>
        </p:nvSpPr>
        <p:spPr>
          <a:xfrm>
            <a:off x="1796957" y="2099775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F4F4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9" name="Google Shape;629;p64"/>
          <p:cNvSpPr/>
          <p:nvPr/>
        </p:nvSpPr>
        <p:spPr>
          <a:xfrm>
            <a:off x="1799732" y="3660225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F4F4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30" name="Google Shape;630;p64"/>
          <p:cNvSpPr/>
          <p:nvPr/>
        </p:nvSpPr>
        <p:spPr>
          <a:xfrm>
            <a:off x="5294957" y="2099775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F4F4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31" name="Google Shape;631;p64"/>
          <p:cNvSpPr/>
          <p:nvPr/>
        </p:nvSpPr>
        <p:spPr>
          <a:xfrm>
            <a:off x="5297732" y="3660225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F4F4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32" name="Google Shape;632;p64"/>
          <p:cNvSpPr/>
          <p:nvPr/>
        </p:nvSpPr>
        <p:spPr>
          <a:xfrm>
            <a:off x="7020357" y="2880000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F4F4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33" name="Google Shape;633;p64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64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35" name="Google Shape;635;p6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 rendered architecture." id="640" name="Google Shape;640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8363" t="0"/>
          <a:stretch/>
        </p:blipFill>
        <p:spPr>
          <a:xfrm>
            <a:off x="3822106" y="0"/>
            <a:ext cx="5321999" cy="5143499"/>
          </a:xfrm>
          <a:prstGeom prst="rect">
            <a:avLst/>
          </a:prstGeom>
        </p:spPr>
      </p:pic>
      <p:sp>
        <p:nvSpPr>
          <p:cNvPr id="641" name="Google Shape;641;p65"/>
          <p:cNvSpPr/>
          <p:nvPr/>
        </p:nvSpPr>
        <p:spPr>
          <a:xfrm>
            <a:off x="1619549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42" name="Google Shape;642;p65"/>
          <p:cNvSpPr/>
          <p:nvPr/>
        </p:nvSpPr>
        <p:spPr>
          <a:xfrm>
            <a:off x="845386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43" name="Google Shape;643;p65"/>
          <p:cNvSpPr/>
          <p:nvPr/>
        </p:nvSpPr>
        <p:spPr>
          <a:xfrm>
            <a:off x="-11200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44" name="Google Shape;644;p65"/>
          <p:cNvSpPr txBox="1"/>
          <p:nvPr>
            <p:ph type="title"/>
          </p:nvPr>
        </p:nvSpPr>
        <p:spPr>
          <a:xfrm>
            <a:off x="125700" y="134475"/>
            <a:ext cx="3696600" cy="2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Face Model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0" name="Google Shape;650;p66" title="ArcFace Makeup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01" y="1109675"/>
            <a:ext cx="8403300" cy="1981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A5B4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1" name="Google Shape;651;p66"/>
          <p:cNvSpPr txBox="1"/>
          <p:nvPr>
            <p:ph idx="3" type="body"/>
          </p:nvPr>
        </p:nvSpPr>
        <p:spPr>
          <a:xfrm>
            <a:off x="753900" y="3379125"/>
            <a:ext cx="7636200" cy="6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Face Recognition and ArcFace: Additive Angular Margin Loss for Deep Face Recognition</a:t>
            </a:r>
            <a:endParaRPr b="1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Medium</a:t>
            </a:r>
            <a:endParaRPr b="1"/>
          </a:p>
        </p:txBody>
      </p:sp>
      <p:sp>
        <p:nvSpPr>
          <p:cNvPr id="652" name="Google Shape;652;p66"/>
          <p:cNvSpPr/>
          <p:nvPr/>
        </p:nvSpPr>
        <p:spPr>
          <a:xfrm>
            <a:off x="125700" y="125601"/>
            <a:ext cx="2651886" cy="696114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ArcFace</a:t>
            </a:r>
            <a:endParaRPr sz="4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66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6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7"/>
          <p:cNvSpPr/>
          <p:nvPr/>
        </p:nvSpPr>
        <p:spPr>
          <a:xfrm>
            <a:off x="4236800" y="466825"/>
            <a:ext cx="4821000" cy="4136100"/>
          </a:xfrm>
          <a:prstGeom prst="roundRect">
            <a:avLst>
              <a:gd fmla="val 12687" name="adj"/>
            </a:avLst>
          </a:prstGeom>
          <a:solidFill>
            <a:srgbClr val="191E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67"/>
          <p:cNvSpPr txBox="1"/>
          <p:nvPr>
            <p:ph idx="3" type="body"/>
          </p:nvPr>
        </p:nvSpPr>
        <p:spPr>
          <a:xfrm>
            <a:off x="-43750" y="1533138"/>
            <a:ext cx="3778500" cy="30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ArcFace Utilizes an Residual Network, a special case of CNNs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Layer skipping is what makes a ResNet special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each “Residual Block” the initial input is added to the output of that block, helping to solve the loss of data or Vanishing Gradient Problem present in large CNNs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output of the ResNet is a 512 dimension embedding, which is passed into a post-processing </a:t>
            </a:r>
            <a:r>
              <a:rPr lang="en"/>
              <a:t>algorithm</a:t>
            </a:r>
            <a:endParaRPr/>
          </a:p>
        </p:txBody>
      </p:sp>
      <p:sp>
        <p:nvSpPr>
          <p:cNvPr id="661" name="Google Shape;661;p67"/>
          <p:cNvSpPr/>
          <p:nvPr/>
        </p:nvSpPr>
        <p:spPr>
          <a:xfrm>
            <a:off x="173000" y="125601"/>
            <a:ext cx="2651886" cy="696114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ArcFace</a:t>
            </a:r>
            <a:endParaRPr sz="4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6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3" name="Google Shape;663;p67" title="Screenshot 2026-04-27 at 6.51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250" y="1111519"/>
            <a:ext cx="4580100" cy="28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7"/>
          <p:cNvSpPr txBox="1"/>
          <p:nvPr>
            <p:ph type="title"/>
          </p:nvPr>
        </p:nvSpPr>
        <p:spPr>
          <a:xfrm>
            <a:off x="125700" y="889138"/>
            <a:ext cx="3093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ResNet34 Breakdown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665" name="Google Shape;665;p67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7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Model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8"/>
          <p:cNvSpPr txBox="1"/>
          <p:nvPr>
            <p:ph idx="3" type="body"/>
          </p:nvPr>
        </p:nvSpPr>
        <p:spPr>
          <a:xfrm>
            <a:off x="188550" y="1619200"/>
            <a:ext cx="4454400" cy="29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20,000 </a:t>
            </a:r>
            <a:r>
              <a:rPr lang="en"/>
              <a:t>random images were chosen and compared against eachother using ArcFace and Cosine Distance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0.0 - </a:t>
            </a:r>
            <a:r>
              <a:rPr lang="en"/>
              <a:t>The </a:t>
            </a:r>
            <a:r>
              <a:rPr lang="en"/>
              <a:t>number of true matches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1.0 - </a:t>
            </a:r>
            <a:r>
              <a:rPr lang="en"/>
              <a:t>Completely Different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0.5 - </a:t>
            </a:r>
            <a:r>
              <a:rPr lang="en"/>
              <a:t>Is the Threshold Limit chosen between completely different and exactly the same.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threshold value means that the images below a 0.5 distance will be accepted as a potential match, and images 0.5 and above will be rejected because they are too distant from eachother to be considered a match</a:t>
            </a:r>
            <a:endParaRPr/>
          </a:p>
        </p:txBody>
      </p:sp>
      <p:sp>
        <p:nvSpPr>
          <p:cNvPr id="672" name="Google Shape;672;p68"/>
          <p:cNvSpPr txBox="1"/>
          <p:nvPr>
            <p:ph type="title"/>
          </p:nvPr>
        </p:nvSpPr>
        <p:spPr>
          <a:xfrm>
            <a:off x="125700" y="125600"/>
            <a:ext cx="4580100" cy="13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Distance Threshold Breakdown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673" name="Google Shape;673;p68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68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Model</a:t>
            </a:r>
            <a:endParaRPr/>
          </a:p>
        </p:txBody>
      </p:sp>
      <p:sp>
        <p:nvSpPr>
          <p:cNvPr id="675" name="Google Shape;675;p68"/>
          <p:cNvSpPr/>
          <p:nvPr/>
        </p:nvSpPr>
        <p:spPr>
          <a:xfrm>
            <a:off x="251400" y="201800"/>
            <a:ext cx="2761776" cy="77506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</a:t>
            </a:r>
            <a:r>
              <a:rPr lang="en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Face</a:t>
            </a:r>
            <a:endParaRPr sz="4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7" name="Google Shape;677;p68" title="Screenshot 2026-04-27 at 6.03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900" y="886050"/>
            <a:ext cx="4024800" cy="3371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5B4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 rendered architecture." id="682" name="Google Shape;682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8363" t="0"/>
          <a:stretch/>
        </p:blipFill>
        <p:spPr>
          <a:xfrm>
            <a:off x="3822106" y="0"/>
            <a:ext cx="5321999" cy="5143499"/>
          </a:xfrm>
          <a:prstGeom prst="rect">
            <a:avLst/>
          </a:prstGeom>
        </p:spPr>
      </p:pic>
      <p:sp>
        <p:nvSpPr>
          <p:cNvPr id="683" name="Google Shape;683;p69"/>
          <p:cNvSpPr/>
          <p:nvPr/>
        </p:nvSpPr>
        <p:spPr>
          <a:xfrm>
            <a:off x="1619550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84" name="Google Shape;684;p69"/>
          <p:cNvSpPr/>
          <p:nvPr/>
        </p:nvSpPr>
        <p:spPr>
          <a:xfrm>
            <a:off x="779986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85" name="Google Shape;685;p69"/>
          <p:cNvSpPr/>
          <p:nvPr/>
        </p:nvSpPr>
        <p:spPr>
          <a:xfrm>
            <a:off x="5824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86" name="Google Shape;686;p69"/>
          <p:cNvSpPr txBox="1"/>
          <p:nvPr>
            <p:ph type="title"/>
          </p:nvPr>
        </p:nvSpPr>
        <p:spPr>
          <a:xfrm>
            <a:off x="125700" y="134475"/>
            <a:ext cx="3696600" cy="2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Age</a:t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Model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0"/>
          <p:cNvSpPr/>
          <p:nvPr/>
        </p:nvSpPr>
        <p:spPr>
          <a:xfrm>
            <a:off x="251400" y="201800"/>
            <a:ext cx="1468422" cy="77506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7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70"/>
          <p:cNvSpPr txBox="1"/>
          <p:nvPr/>
        </p:nvSpPr>
        <p:spPr>
          <a:xfrm>
            <a:off x="1997025" y="331175"/>
            <a:ext cx="71991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Experimenting with Different Backbones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94" name="Google Shape;694;p7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{A1D49FB8-8760-4465-8698-629A192C3057}</a:tableStyleId>
              </a:tblPr>
              <a:tblGrid>
                <a:gridCol w="893000"/>
                <a:gridCol w="393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Number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CNN </a:t>
                      </a:r>
                      <a:r>
                        <a:rPr b="1" lang="en"/>
                        <a:t>Backbone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Testing Average MAE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EfficientNetB0</a:t>
                      </a:r>
                      <a:r>
                        <a:rPr lang="en"/>
                        <a:t> (Original) [4.4m params]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~6.6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EfficientNetB4</a:t>
                      </a:r>
                      <a:r>
                        <a:rPr lang="en"/>
                        <a:t> [17.6m params]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~6.4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Xception</a:t>
                      </a:r>
                      <a:r>
                        <a:rPr lang="en"/>
                        <a:t> [20.8m params]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~5.9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A5B4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ResNetV250</a:t>
                      </a:r>
                      <a:r>
                        <a:rPr lang="en"/>
                        <a:t> [23.8m params]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4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~5.7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4A5"/>
                    </a:solidFill>
                  </a:tcPr>
                </a:tc>
              </a:tr>
            </a:tbl>
          </a:graphicData>
        </a:graphic>
      </p:graphicFrame>
      <p:sp>
        <p:nvSpPr>
          <p:cNvPr id="695" name="Google Shape;695;p70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70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1"/>
          <p:cNvSpPr/>
          <p:nvPr/>
        </p:nvSpPr>
        <p:spPr>
          <a:xfrm>
            <a:off x="4439300" y="201800"/>
            <a:ext cx="4577700" cy="4362600"/>
          </a:xfrm>
          <a:prstGeom prst="roundRect">
            <a:avLst>
              <a:gd fmla="val 16667" name="adj"/>
            </a:avLst>
          </a:prstGeom>
          <a:solidFill>
            <a:srgbClr val="2E3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71"/>
          <p:cNvSpPr txBox="1"/>
          <p:nvPr>
            <p:ph idx="3" type="body"/>
          </p:nvPr>
        </p:nvSpPr>
        <p:spPr>
          <a:xfrm>
            <a:off x="251400" y="1212375"/>
            <a:ext cx="3803400" cy="3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50,000 images (80/20 split)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CNN with pretrained model</a:t>
            </a:r>
            <a:endParaRPr b="1"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ResNetV2-50</a:t>
            </a:r>
            <a:endParaRPr b="1"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Trainable params: 270,529 (last 40 layers unfrozen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CNN Head</a:t>
            </a:r>
            <a:endParaRPr b="1"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Average Pooling and Batch Normalization layers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2x 0.25 dropout layers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128 → 32 → 1 dense layers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Loss Function: Huber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Optimizer: Adam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Early Stopping and Model Checkpoints</a:t>
            </a:r>
            <a:endParaRPr/>
          </a:p>
        </p:txBody>
      </p:sp>
      <p:sp>
        <p:nvSpPr>
          <p:cNvPr id="703" name="Google Shape;703;p7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4" name="Google Shape;70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229" y="695600"/>
            <a:ext cx="4153846" cy="33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71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71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</a:t>
            </a:r>
            <a:endParaRPr/>
          </a:p>
        </p:txBody>
      </p:sp>
      <p:sp>
        <p:nvSpPr>
          <p:cNvPr id="707" name="Google Shape;707;p71"/>
          <p:cNvSpPr txBox="1"/>
          <p:nvPr/>
        </p:nvSpPr>
        <p:spPr>
          <a:xfrm>
            <a:off x="125700" y="258600"/>
            <a:ext cx="4382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 Model Architecture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2"/>
          <p:cNvSpPr/>
          <p:nvPr/>
        </p:nvSpPr>
        <p:spPr>
          <a:xfrm>
            <a:off x="5516950" y="125600"/>
            <a:ext cx="3376800" cy="463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A5B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50" lIns="92950" spcFirstLastPara="1" rIns="92950" wrap="square" tIns="9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72"/>
          <p:cNvSpPr txBox="1"/>
          <p:nvPr>
            <p:ph idx="3" type="body"/>
          </p:nvPr>
        </p:nvSpPr>
        <p:spPr>
          <a:xfrm>
            <a:off x="251400" y="1409027"/>
            <a:ext cx="4454400" cy="2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2 Stages of Model Training</a:t>
            </a:r>
            <a:endParaRPr b="1"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Stage 1 - Training only CNN Head (30 epochs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Stage 2 - Fine-tuning head with partly unfrozen backbone (45 epochs)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With ResNetV250, able to get test MAE to around ~5.70.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augmentation applied (flip, rotate, zoom)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Non-weighted sampling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overfitting/underfitting in training. Potentially ~200 epochs to see overfitting.</a:t>
            </a:r>
            <a:endParaRPr/>
          </a:p>
        </p:txBody>
      </p:sp>
      <p:sp>
        <p:nvSpPr>
          <p:cNvPr id="714" name="Google Shape;714;p72"/>
          <p:cNvSpPr/>
          <p:nvPr/>
        </p:nvSpPr>
        <p:spPr>
          <a:xfrm>
            <a:off x="251400" y="201800"/>
            <a:ext cx="1974780" cy="77506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7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72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72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</a:t>
            </a:r>
            <a:endParaRPr/>
          </a:p>
        </p:txBody>
      </p:sp>
      <p:sp>
        <p:nvSpPr>
          <p:cNvPr id="718" name="Google Shape;718;p72"/>
          <p:cNvSpPr txBox="1"/>
          <p:nvPr/>
        </p:nvSpPr>
        <p:spPr>
          <a:xfrm>
            <a:off x="2292063" y="231800"/>
            <a:ext cx="31590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Results</a:t>
            </a:r>
            <a:endParaRPr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9" name="Google Shape;719;p72" title="Screenshot 2026-04-27 at 7.49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750" y="319717"/>
            <a:ext cx="2795501" cy="217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72" title="Screenshot 2026-04-27 at 7.50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5000" y="2495050"/>
            <a:ext cx="2588999" cy="201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3"/>
          <p:cNvSpPr/>
          <p:nvPr/>
        </p:nvSpPr>
        <p:spPr>
          <a:xfrm>
            <a:off x="251400" y="201800"/>
            <a:ext cx="1974780" cy="77506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7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73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73"/>
          <p:cNvSpPr txBox="1"/>
          <p:nvPr>
            <p:ph idx="5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</a:t>
            </a:r>
            <a:endParaRPr/>
          </a:p>
        </p:txBody>
      </p:sp>
      <p:sp>
        <p:nvSpPr>
          <p:cNvPr id="729" name="Google Shape;729;p73"/>
          <p:cNvSpPr txBox="1"/>
          <p:nvPr/>
        </p:nvSpPr>
        <p:spPr>
          <a:xfrm>
            <a:off x="2292077" y="231800"/>
            <a:ext cx="37131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Examples</a:t>
            </a:r>
            <a:endParaRPr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73"/>
          <p:cNvCxnSpPr/>
          <p:nvPr/>
        </p:nvCxnSpPr>
        <p:spPr>
          <a:xfrm>
            <a:off x="1143000" y="2948225"/>
            <a:ext cx="0" cy="8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31" name="Google Shape;731;p73" title="Screenshot 2026-04-27 at 8.11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25" y="1547322"/>
            <a:ext cx="1340100" cy="117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732" name="Google Shape;732;p73"/>
          <p:cNvSpPr txBox="1"/>
          <p:nvPr/>
        </p:nvSpPr>
        <p:spPr>
          <a:xfrm>
            <a:off x="251388" y="3828150"/>
            <a:ext cx="213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Predicted: 33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Actual: 37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Difference: |+4| &lt; 5.7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3" name="Google Shape;733;p73" title="Screenshot 2026-04-27 at 8.14.5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451" y="1522496"/>
            <a:ext cx="1231800" cy="122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cxnSp>
        <p:nvCxnSpPr>
          <p:cNvPr id="734" name="Google Shape;734;p73"/>
          <p:cNvCxnSpPr/>
          <p:nvPr/>
        </p:nvCxnSpPr>
        <p:spPr>
          <a:xfrm>
            <a:off x="2964325" y="2901050"/>
            <a:ext cx="0" cy="8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5" name="Google Shape;735;p73"/>
          <p:cNvSpPr txBox="1"/>
          <p:nvPr/>
        </p:nvSpPr>
        <p:spPr>
          <a:xfrm>
            <a:off x="2181788" y="3860563"/>
            <a:ext cx="213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Predicted: 45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Actual: 20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Difference: |-25| &gt;&gt; 5.7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73"/>
          <p:cNvSpPr txBox="1"/>
          <p:nvPr/>
        </p:nvSpPr>
        <p:spPr>
          <a:xfrm>
            <a:off x="2348428" y="1115800"/>
            <a:ext cx="1525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Non-Film Still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088" y="1168400"/>
            <a:ext cx="1231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Film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Still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8" name="Google Shape;73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1705" y="1547324"/>
            <a:ext cx="3649944" cy="29085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4"/>
          <p:cNvSpPr txBox="1"/>
          <p:nvPr>
            <p:ph type="title"/>
          </p:nvPr>
        </p:nvSpPr>
        <p:spPr>
          <a:xfrm>
            <a:off x="2493450" y="603725"/>
            <a:ext cx="4157100" cy="345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Demo</a:t>
            </a:r>
            <a:endParaRPr sz="5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Link Here</a:t>
            </a:r>
            <a:endParaRPr sz="2400"/>
          </a:p>
        </p:txBody>
      </p:sp>
      <p:pic>
        <p:nvPicPr>
          <p:cNvPr id="744" name="Google Shape;7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00" y="4765325"/>
            <a:ext cx="9050824" cy="4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 rendered architecture." id="749" name="Google Shape;749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8363" t="0"/>
          <a:stretch/>
        </p:blipFill>
        <p:spPr>
          <a:xfrm>
            <a:off x="3822106" y="0"/>
            <a:ext cx="5321999" cy="5143499"/>
          </a:xfrm>
          <a:prstGeom prst="rect">
            <a:avLst/>
          </a:prstGeom>
        </p:spPr>
      </p:pic>
      <p:sp>
        <p:nvSpPr>
          <p:cNvPr id="750" name="Google Shape;750;p75"/>
          <p:cNvSpPr/>
          <p:nvPr/>
        </p:nvSpPr>
        <p:spPr>
          <a:xfrm>
            <a:off x="1583011" y="8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751" name="Google Shape;751;p75"/>
          <p:cNvSpPr/>
          <p:nvPr/>
        </p:nvSpPr>
        <p:spPr>
          <a:xfrm>
            <a:off x="732075" y="8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752" name="Google Shape;752;p75"/>
          <p:cNvSpPr/>
          <p:nvPr/>
        </p:nvSpPr>
        <p:spPr>
          <a:xfrm>
            <a:off x="-196376" y="8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753" name="Google Shape;753;p75"/>
          <p:cNvSpPr txBox="1"/>
          <p:nvPr>
            <p:ph type="title"/>
          </p:nvPr>
        </p:nvSpPr>
        <p:spPr>
          <a:xfrm>
            <a:off x="125700" y="134475"/>
            <a:ext cx="3900600" cy="2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Debrief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6"/>
          <p:cNvSpPr txBox="1"/>
          <p:nvPr>
            <p:ph idx="1" type="body"/>
          </p:nvPr>
        </p:nvSpPr>
        <p:spPr>
          <a:xfrm>
            <a:off x="5218050" y="369895"/>
            <a:ext cx="3489300" cy="40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General communication and team response times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/>
              <a:t>Getting a functional model with somewhat accurate results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/>
              <a:t>Training the model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/>
              <a:t>Getting our query algorithms to work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/>
              <a:t>Overall latency not face based</a:t>
            </a:r>
            <a:endParaRPr b="1"/>
          </a:p>
        </p:txBody>
      </p:sp>
      <p:sp>
        <p:nvSpPr>
          <p:cNvPr id="759" name="Google Shape;759;p76"/>
          <p:cNvSpPr txBox="1"/>
          <p:nvPr>
            <p:ph type="title"/>
          </p:nvPr>
        </p:nvSpPr>
        <p:spPr>
          <a:xfrm>
            <a:off x="125700" y="125600"/>
            <a:ext cx="45801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went</a:t>
            </a:r>
            <a:endParaRPr/>
          </a:p>
        </p:txBody>
      </p:sp>
      <p:sp>
        <p:nvSpPr>
          <p:cNvPr id="760" name="Google Shape;760;p76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76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76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76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7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5" name="Google Shape;765;p76"/>
          <p:cNvSpPr/>
          <p:nvPr/>
        </p:nvSpPr>
        <p:spPr>
          <a:xfrm>
            <a:off x="125700" y="1057825"/>
            <a:ext cx="2169900" cy="8907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Well?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76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76"/>
          <p:cNvSpPr txBox="1"/>
          <p:nvPr>
            <p:ph idx="3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lang="en"/>
              <a:t>Debrief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7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77"/>
          <p:cNvSpPr txBox="1"/>
          <p:nvPr>
            <p:ph idx="3" type="body"/>
          </p:nvPr>
        </p:nvSpPr>
        <p:spPr>
          <a:xfrm>
            <a:off x="5218050" y="400209"/>
            <a:ext cx="3489300" cy="40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Model Accuracy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Face Model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Side profiles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less popular actors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Quality of data wasn’t great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Age Model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Data augmentation and datasets didn’t help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Uneven age ranges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Latency could be better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74" name="Google Shape;774;p77"/>
          <p:cNvSpPr txBox="1"/>
          <p:nvPr>
            <p:ph idx="4294967295" type="title"/>
          </p:nvPr>
        </p:nvSpPr>
        <p:spPr>
          <a:xfrm>
            <a:off x="125700" y="125600"/>
            <a:ext cx="4580100" cy="29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could be </a:t>
            </a:r>
            <a:endParaRPr/>
          </a:p>
        </p:txBody>
      </p:sp>
      <p:sp>
        <p:nvSpPr>
          <p:cNvPr id="775" name="Google Shape;775;p77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77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77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7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9" name="Google Shape;779;p77"/>
          <p:cNvSpPr/>
          <p:nvPr/>
        </p:nvSpPr>
        <p:spPr>
          <a:xfrm>
            <a:off x="1269700" y="1057825"/>
            <a:ext cx="2730300" cy="890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7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77"/>
          <p:cNvSpPr txBox="1"/>
          <p:nvPr>
            <p:ph idx="2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lang="en"/>
              <a:t>Debrief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8"/>
          <p:cNvSpPr txBox="1"/>
          <p:nvPr>
            <p:ph type="title"/>
          </p:nvPr>
        </p:nvSpPr>
        <p:spPr>
          <a:xfrm>
            <a:off x="2493450" y="603725"/>
            <a:ext cx="4157100" cy="345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Back to </a:t>
            </a:r>
            <a:r>
              <a:rPr lang="en" sz="5600"/>
              <a:t>Demo</a:t>
            </a:r>
            <a:endParaRPr sz="5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Link Here</a:t>
            </a:r>
            <a:endParaRPr sz="2400"/>
          </a:p>
        </p:txBody>
      </p:sp>
      <p:pic>
        <p:nvPicPr>
          <p:cNvPr id="787" name="Google Shape;78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00" y="4765325"/>
            <a:ext cx="9050824" cy="4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9"/>
          <p:cNvSpPr/>
          <p:nvPr/>
        </p:nvSpPr>
        <p:spPr>
          <a:xfrm>
            <a:off x="2767900" y="-43600"/>
            <a:ext cx="6376200" cy="48732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79"/>
          <p:cNvSpPr txBox="1"/>
          <p:nvPr>
            <p:ph type="title"/>
          </p:nvPr>
        </p:nvSpPr>
        <p:spPr>
          <a:xfrm>
            <a:off x="125700" y="125600"/>
            <a:ext cx="2515800" cy="43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 sz="3200"/>
          </a:p>
        </p:txBody>
      </p:sp>
      <p:sp>
        <p:nvSpPr>
          <p:cNvPr id="794" name="Google Shape;794;p79"/>
          <p:cNvSpPr txBox="1"/>
          <p:nvPr>
            <p:ph idx="4" type="body"/>
          </p:nvPr>
        </p:nvSpPr>
        <p:spPr>
          <a:xfrm>
            <a:off x="3377450" y="530000"/>
            <a:ext cx="4907100" cy="266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Look for other models or a different approach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 products just query ChatGPT or other LLMs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models entirely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Look for better datasets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UI Improvements/Quality of Life</a:t>
            </a:r>
            <a:endParaRPr/>
          </a:p>
        </p:txBody>
      </p:sp>
      <p:sp>
        <p:nvSpPr>
          <p:cNvPr id="795" name="Google Shape;795;p7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6" name="Google Shape;796;p7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Reel-ize: Movie Finder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9"/>
          <p:cNvSpPr txBox="1"/>
          <p:nvPr>
            <p:ph idx="6" type="subTitle"/>
          </p:nvPr>
        </p:nvSpPr>
        <p:spPr>
          <a:xfrm>
            <a:off x="2771400" y="4827075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lang="en"/>
              <a:t>Debrief</a:t>
            </a:r>
            <a:endParaRPr/>
          </a:p>
        </p:txBody>
      </p:sp>
      <p:pic>
        <p:nvPicPr>
          <p:cNvPr id="798" name="Google Shape;798;p79" title="1200x630wa-removebg-preview.png"/>
          <p:cNvPicPr preferRelativeResize="0"/>
          <p:nvPr/>
        </p:nvPicPr>
        <p:blipFill rotWithShape="1">
          <a:blip r:embed="rId3">
            <a:alphaModFix/>
          </a:blip>
          <a:srcRect b="13967" l="31928" r="32065" t="16093"/>
          <a:stretch/>
        </p:blipFill>
        <p:spPr>
          <a:xfrm>
            <a:off x="5973401" y="3488067"/>
            <a:ext cx="743899" cy="7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660" y="3495125"/>
            <a:ext cx="744000" cy="7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9"/>
          <p:cNvSpPr txBox="1"/>
          <p:nvPr>
            <p:ph idx="4" type="body"/>
          </p:nvPr>
        </p:nvSpPr>
        <p:spPr>
          <a:xfrm>
            <a:off x="4406750" y="4246175"/>
            <a:ext cx="18198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ClipFix</a:t>
            </a:r>
            <a:endParaRPr/>
          </a:p>
        </p:txBody>
      </p:sp>
      <p:sp>
        <p:nvSpPr>
          <p:cNvPr id="801" name="Google Shape;801;p79"/>
          <p:cNvSpPr txBox="1"/>
          <p:nvPr>
            <p:ph idx="4" type="body"/>
          </p:nvPr>
        </p:nvSpPr>
        <p:spPr>
          <a:xfrm>
            <a:off x="5435450" y="4246175"/>
            <a:ext cx="18198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Voola</a:t>
            </a:r>
            <a:endParaRPr/>
          </a:p>
        </p:txBody>
      </p:sp>
      <p:sp>
        <p:nvSpPr>
          <p:cNvPr id="802" name="Google Shape;802;p79"/>
          <p:cNvSpPr txBox="1"/>
          <p:nvPr>
            <p:ph idx="4" type="body"/>
          </p:nvPr>
        </p:nvSpPr>
        <p:spPr>
          <a:xfrm>
            <a:off x="4921075" y="2980775"/>
            <a:ext cx="18198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Products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0"/>
          <p:cNvSpPr txBox="1"/>
          <p:nvPr>
            <p:ph type="title"/>
          </p:nvPr>
        </p:nvSpPr>
        <p:spPr>
          <a:xfrm>
            <a:off x="125700" y="3233475"/>
            <a:ext cx="8768100" cy="18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808" name="Google Shape;808;p80"/>
          <p:cNvSpPr txBox="1"/>
          <p:nvPr>
            <p:ph idx="4294967295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9" name="Google Shape;809;p80" title="Screenshot 2026-04-27 at 5.55.28 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3172" l="-102" r="6941" t="0"/>
          <a:stretch/>
        </p:blipFill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