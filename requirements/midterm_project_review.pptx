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rimo"/>
      <p:regular r:id="rId23"/>
      <p:bold r:id="rId24"/>
      <p:italic r:id="rId25"/>
      <p:boldItalic r:id="rId26"/>
    </p:embeddedFont>
    <p:embeddedFont>
      <p:font typeface="Arimo SemiBold"/>
      <p:regular r:id="rId27"/>
      <p:bold r:id="rId28"/>
      <p:italic r:id="rId29"/>
      <p:boldItalic r:id="rId30"/>
    </p:embeddedFont>
    <p:embeddedFont>
      <p:font typeface="Arim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8" Type="http://schemas.openxmlformats.org/officeDocument/2006/relationships/font" Target="fonts/ArimoSemiBold-bold.fntdata"/><Relationship Id="rId27" Type="http://schemas.openxmlformats.org/officeDocument/2006/relationships/font" Target="fonts/Arimo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Medium-regular.fntdata"/><Relationship Id="rId30" Type="http://schemas.openxmlformats.org/officeDocument/2006/relationships/font" Target="fonts/Arimo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ArimoMedium-italic.fntdata"/><Relationship Id="rId10" Type="http://schemas.openxmlformats.org/officeDocument/2006/relationships/slide" Target="slides/slide5.xml"/><Relationship Id="rId32" Type="http://schemas.openxmlformats.org/officeDocument/2006/relationships/font" Target="fonts/Arimo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Arimo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786a85b13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786a85b13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786a85b13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786a85b13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786a85b13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786a85b13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786a85b13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786a85b13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786a85b1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786a85b1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786a85b13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786a85b13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786a85b13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786a85b13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786a85b13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786a85b13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786a85b13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786a85b13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786a85b1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d786a85b1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786a85b1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786a85b1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786a85b13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d786a85b13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0773a6f5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0773a6f5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786a85b13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786a85b13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786a85b13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786a85b13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786a85b13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786a85b13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786a85b13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786a85b13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3.jpg"/><Relationship Id="rId5" Type="http://schemas.openxmlformats.org/officeDocument/2006/relationships/image" Target="../media/image6.jpg"/><Relationship Id="rId6" Type="http://schemas.openxmlformats.org/officeDocument/2006/relationships/image" Target="../media/image11.jpg"/><Relationship Id="rId7" Type="http://schemas.openxmlformats.org/officeDocument/2006/relationships/image" Target="../media/image17.jpg"/><Relationship Id="rId8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olab.research.google.com/drive/120jeKKSlMh-G26OI6n8wTZIMcRf9EMEW#scrollTo=fwPJii9pRFMT" TargetMode="External"/><Relationship Id="rId4" Type="http://schemas.openxmlformats.org/officeDocument/2006/relationships/hyperlink" Target="https://colab.research.google.com/drive/120jeKKSlMh-G26OI6n8wTZIMcRf9EMEW#scrollTo=fwPJii9pRFMT" TargetMode="External"/><Relationship Id="rId9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Relationship Id="rId10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Maxwell Klema, Ivie Xue, Myles Edwards, Dillon Coker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53" name="Google Shape;353;p44"/>
          <p:cNvSpPr txBox="1"/>
          <p:nvPr>
            <p:ph idx="2" type="subTitle"/>
          </p:nvPr>
        </p:nvSpPr>
        <p:spPr>
          <a:xfrm>
            <a:off x="805649" y="582750"/>
            <a:ext cx="36030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Mid Project Review Presentation</a:t>
            </a:r>
            <a:endParaRPr sz="1200"/>
          </a:p>
        </p:txBody>
      </p:sp>
      <p:sp>
        <p:nvSpPr>
          <p:cNvPr id="354" name="Google Shape;354;p4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Reel-ize Movie Finder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" type="subTitle"/>
          </p:nvPr>
        </p:nvSpPr>
        <p:spPr>
          <a:xfrm>
            <a:off x="4406650" y="1163463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Recap</a:t>
            </a:r>
            <a:endParaRPr/>
          </a:p>
        </p:txBody>
      </p:sp>
      <p:sp>
        <p:nvSpPr>
          <p:cNvPr id="360" name="Google Shape;360;p45"/>
          <p:cNvSpPr txBox="1"/>
          <p:nvPr>
            <p:ph idx="2" type="subTitle"/>
          </p:nvPr>
        </p:nvSpPr>
        <p:spPr>
          <a:xfrm>
            <a:off x="4406650" y="1921418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Model</a:t>
            </a:r>
            <a:endParaRPr/>
          </a:p>
        </p:txBody>
      </p:sp>
      <p:sp>
        <p:nvSpPr>
          <p:cNvPr id="361" name="Google Shape;361;p45"/>
          <p:cNvSpPr txBox="1"/>
          <p:nvPr>
            <p:ph idx="4" type="subTitle"/>
          </p:nvPr>
        </p:nvSpPr>
        <p:spPr>
          <a:xfrm>
            <a:off x="4406650" y="2679373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  <p:sp>
        <p:nvSpPr>
          <p:cNvPr id="362" name="Google Shape;362;p45"/>
          <p:cNvSpPr txBox="1"/>
          <p:nvPr>
            <p:ph type="title"/>
          </p:nvPr>
        </p:nvSpPr>
        <p:spPr>
          <a:xfrm>
            <a:off x="794225" y="2280900"/>
            <a:ext cx="2293800" cy="58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Outline</a:t>
            </a:r>
            <a:endParaRPr b="1"/>
          </a:p>
        </p:txBody>
      </p:sp>
      <p:sp>
        <p:nvSpPr>
          <p:cNvPr id="363" name="Google Shape;363;p45"/>
          <p:cNvSpPr txBox="1"/>
          <p:nvPr>
            <p:ph idx="6" type="subTitle"/>
          </p:nvPr>
        </p:nvSpPr>
        <p:spPr>
          <a:xfrm>
            <a:off x="4406650" y="3437328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Overall + Future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808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001588" y="1786200"/>
            <a:ext cx="3392100" cy="13950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70" name="Google Shape;370;p4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54942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72320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372" name="Google Shape;372;p46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74" name="Google Shape;374;p46"/>
          <p:cNvGrpSpPr/>
          <p:nvPr/>
        </p:nvGrpSpPr>
        <p:grpSpPr>
          <a:xfrm>
            <a:off x="2179138" y="1961600"/>
            <a:ext cx="514500" cy="514500"/>
            <a:chOff x="2196150" y="1919375"/>
            <a:chExt cx="514500" cy="514500"/>
          </a:xfrm>
        </p:grpSpPr>
        <p:sp>
          <p:nvSpPr>
            <p:cNvPr id="375" name="Google Shape;375;p4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77" name="Google Shape;377;p46"/>
          <p:cNvGrpSpPr/>
          <p:nvPr/>
        </p:nvGrpSpPr>
        <p:grpSpPr>
          <a:xfrm>
            <a:off x="5677450" y="1919375"/>
            <a:ext cx="514500" cy="514500"/>
            <a:chOff x="5677450" y="1919375"/>
            <a:chExt cx="514500" cy="514500"/>
          </a:xfrm>
        </p:grpSpPr>
        <p:sp>
          <p:nvSpPr>
            <p:cNvPr id="378" name="Google Shape;378;p46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79" name="Google Shape;379;p46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80" name="Google Shape;380;p46"/>
          <p:cNvGrpSpPr/>
          <p:nvPr/>
        </p:nvGrpSpPr>
        <p:grpSpPr>
          <a:xfrm>
            <a:off x="7418100" y="1919375"/>
            <a:ext cx="514500" cy="514500"/>
            <a:chOff x="7418100" y="1919375"/>
            <a:chExt cx="514500" cy="514500"/>
          </a:xfrm>
        </p:grpSpPr>
        <p:sp>
          <p:nvSpPr>
            <p:cNvPr id="381" name="Google Shape;381;p46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83" name="Google Shape;383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Recap</a:t>
            </a:r>
            <a:endParaRPr/>
          </a:p>
        </p:txBody>
      </p:sp>
      <p:sp>
        <p:nvSpPr>
          <p:cNvPr id="384" name="Google Shape;384;p46"/>
          <p:cNvSpPr txBox="1"/>
          <p:nvPr>
            <p:ph idx="1" type="subTitle"/>
          </p:nvPr>
        </p:nvSpPr>
        <p:spPr>
          <a:xfrm>
            <a:off x="421311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385" name="Google Shape;385;p46"/>
          <p:cNvSpPr txBox="1"/>
          <p:nvPr>
            <p:ph idx="2" type="subTitle"/>
          </p:nvPr>
        </p:nvSpPr>
        <p:spPr>
          <a:xfrm>
            <a:off x="2832800" y="2123650"/>
            <a:ext cx="1337400" cy="1920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Model</a:t>
            </a:r>
            <a:endParaRPr/>
          </a:p>
        </p:txBody>
      </p:sp>
      <p:sp>
        <p:nvSpPr>
          <p:cNvPr id="386" name="Google Shape;386;p46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TMDB</a:t>
            </a:r>
            <a:endParaRPr/>
          </a:p>
        </p:txBody>
      </p:sp>
      <p:sp>
        <p:nvSpPr>
          <p:cNvPr id="387" name="Google Shape;387;p46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Results</a:t>
            </a:r>
            <a:endParaRPr/>
          </a:p>
        </p:txBody>
      </p:sp>
      <p:sp>
        <p:nvSpPr>
          <p:cNvPr id="388" name="Google Shape;388;p46"/>
          <p:cNvSpPr txBox="1"/>
          <p:nvPr>
            <p:ph idx="6" type="body"/>
          </p:nvPr>
        </p:nvSpPr>
        <p:spPr>
          <a:xfrm>
            <a:off x="421311" y="3433000"/>
            <a:ext cx="1337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inputs an image or a short video.</a:t>
            </a:r>
            <a:endParaRPr/>
          </a:p>
        </p:txBody>
      </p:sp>
      <p:sp>
        <p:nvSpPr>
          <p:cNvPr id="389" name="Google Shape;389;p46"/>
          <p:cNvSpPr txBox="1"/>
          <p:nvPr>
            <p:ph idx="7" type="body"/>
          </p:nvPr>
        </p:nvSpPr>
        <p:spPr>
          <a:xfrm>
            <a:off x="2291113" y="2531000"/>
            <a:ext cx="29625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the actor’s name based on the image.</a:t>
            </a:r>
            <a:endParaRPr/>
          </a:p>
        </p:txBody>
      </p:sp>
      <p:sp>
        <p:nvSpPr>
          <p:cNvPr id="390" name="Google Shape;390;p46"/>
          <p:cNvSpPr txBox="1"/>
          <p:nvPr>
            <p:ph idx="9" type="body"/>
          </p:nvPr>
        </p:nvSpPr>
        <p:spPr>
          <a:xfrm>
            <a:off x="5648625" y="3433000"/>
            <a:ext cx="13374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movie based on the results of the models</a:t>
            </a:r>
            <a:endParaRPr/>
          </a:p>
        </p:txBody>
      </p:sp>
      <p:sp>
        <p:nvSpPr>
          <p:cNvPr id="391" name="Google Shape;391;p46"/>
          <p:cNvSpPr txBox="1"/>
          <p:nvPr>
            <p:ph idx="13" type="body"/>
          </p:nvPr>
        </p:nvSpPr>
        <p:spPr>
          <a:xfrm>
            <a:off x="7385291" y="3433000"/>
            <a:ext cx="1337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Display on the UI what the distributions are and what the movie predictions are.</a:t>
            </a:r>
            <a:endParaRPr/>
          </a:p>
        </p:txBody>
      </p:sp>
      <p:sp>
        <p:nvSpPr>
          <p:cNvPr id="392" name="Google Shape;392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3" name="Google Shape;393;p4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004901" y="3346643"/>
            <a:ext cx="3392100" cy="13950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grpSp>
        <p:nvGrpSpPr>
          <p:cNvPr id="394" name="Google Shape;394;p46"/>
          <p:cNvGrpSpPr/>
          <p:nvPr/>
        </p:nvGrpSpPr>
        <p:grpSpPr>
          <a:xfrm>
            <a:off x="2182451" y="3522043"/>
            <a:ext cx="514500" cy="514500"/>
            <a:chOff x="2196150" y="1919375"/>
            <a:chExt cx="514500" cy="514500"/>
          </a:xfrm>
        </p:grpSpPr>
        <p:sp>
          <p:nvSpPr>
            <p:cNvPr id="395" name="Google Shape;395;p4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97" name="Google Shape;397;p46"/>
          <p:cNvSpPr txBox="1"/>
          <p:nvPr>
            <p:ph idx="2" type="subTitle"/>
          </p:nvPr>
        </p:nvSpPr>
        <p:spPr>
          <a:xfrm>
            <a:off x="2832800" y="3666147"/>
            <a:ext cx="1337400" cy="1920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</a:t>
            </a:r>
            <a:endParaRPr/>
          </a:p>
        </p:txBody>
      </p:sp>
      <p:sp>
        <p:nvSpPr>
          <p:cNvPr id="398" name="Google Shape;398;p46"/>
          <p:cNvSpPr txBox="1"/>
          <p:nvPr>
            <p:ph idx="7" type="body"/>
          </p:nvPr>
        </p:nvSpPr>
        <p:spPr>
          <a:xfrm>
            <a:off x="2294426" y="4091443"/>
            <a:ext cx="29625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the actor’s age based on the image</a:t>
            </a:r>
            <a:endParaRPr/>
          </a:p>
        </p:txBody>
      </p:sp>
      <p:sp>
        <p:nvSpPr>
          <p:cNvPr id="399" name="Google Shape;399;p46"/>
          <p:cNvSpPr/>
          <p:nvPr/>
        </p:nvSpPr>
        <p:spPr>
          <a:xfrm>
            <a:off x="1796957" y="2295000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1799732" y="3855450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5294957" y="2295000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5297732" y="3855450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7020357" y="3075225"/>
            <a:ext cx="341700" cy="3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Face Model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Reviews (what went right/wrong)</a:t>
            </a:r>
            <a:endParaRPr/>
          </a:p>
        </p:txBody>
      </p:sp>
      <p:sp>
        <p:nvSpPr>
          <p:cNvPr id="414" name="Google Shape;414;p48"/>
          <p:cNvSpPr txBox="1"/>
          <p:nvPr>
            <p:ph idx="1" type="body"/>
          </p:nvPr>
        </p:nvSpPr>
        <p:spPr>
          <a:xfrm>
            <a:off x="311700" y="1152475"/>
            <a:ext cx="4296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Inserted a picture from the movie Creed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DeepFace utilizes the RetinaFace detector to locate and extract the 2 faces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ArcFace begins to embed the faces into vectors for each face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then use the vectors to search the </a:t>
            </a:r>
            <a:r>
              <a:rPr lang="en"/>
              <a:t>database</a:t>
            </a:r>
            <a:r>
              <a:rPr lang="en"/>
              <a:t> for matching vectors to give us back the actor names </a:t>
            </a:r>
            <a:endParaRPr/>
          </a:p>
        </p:txBody>
      </p:sp>
      <p:pic>
        <p:nvPicPr>
          <p:cNvPr id="416" name="Google Shape;4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950" y="3150125"/>
            <a:ext cx="2990050" cy="19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8" title="Screenshot 2026-03-16 at 7.06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50" y="1225300"/>
            <a:ext cx="4677200" cy="26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of Embeddings</a:t>
            </a:r>
            <a:endParaRPr/>
          </a:p>
        </p:txBody>
      </p:sp>
      <p:sp>
        <p:nvSpPr>
          <p:cNvPr id="423" name="Google Shape;423;p49"/>
          <p:cNvSpPr txBox="1"/>
          <p:nvPr>
            <p:ph idx="2" type="body"/>
          </p:nvPr>
        </p:nvSpPr>
        <p:spPr>
          <a:xfrm>
            <a:off x="683400" y="1219650"/>
            <a:ext cx="3334200" cy="135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use the DeepFace Package for it’s efficiency and easy of use for: 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RetinaFace to do facial detection and pre-processing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Using ArcFace model to embed all 460,000 photographs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49" title="Screenshot 2026-03-16 at 6.12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062" y="1086900"/>
            <a:ext cx="3775875" cy="35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9" title="Screenshot 2026-03-16 at 6.16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75" y="3181175"/>
            <a:ext cx="3166652" cy="14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127125" y="145875"/>
            <a:ext cx="3914700" cy="618300"/>
          </a:xfrm>
          <a:prstGeom prst="rect">
            <a:avLst/>
          </a:prstGeom>
        </p:spPr>
        <p:txBody>
          <a:bodyPr anchorCtr="0" anchor="b" bIns="132375" lIns="132375" spcFirstLastPara="1" rIns="132375" wrap="square" tIns="132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95"/>
              <a:t>Face Model Demo</a:t>
            </a:r>
            <a:endParaRPr sz="2895"/>
          </a:p>
        </p:txBody>
      </p:sp>
      <p:pic>
        <p:nvPicPr>
          <p:cNvPr id="431" name="Google Shape;4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900" y="1027350"/>
            <a:ext cx="2542824" cy="38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0" title="himym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7375" y="796187"/>
            <a:ext cx="498075" cy="69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0" title="himym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7375" y="1590838"/>
            <a:ext cx="498075" cy="69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0" title="himym3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0416" y="2385763"/>
            <a:ext cx="498075" cy="763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0" title="himym4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4323" y="3281725"/>
            <a:ext cx="524179" cy="76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0" title="himym5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7375" y="4177675"/>
            <a:ext cx="524175" cy="8350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50"/>
          <p:cNvCxnSpPr/>
          <p:nvPr/>
        </p:nvCxnSpPr>
        <p:spPr>
          <a:xfrm>
            <a:off x="1985450" y="1131550"/>
            <a:ext cx="1164300" cy="31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50"/>
          <p:cNvCxnSpPr/>
          <p:nvPr/>
        </p:nvCxnSpPr>
        <p:spPr>
          <a:xfrm flipH="1" rot="10800000">
            <a:off x="2006600" y="4558850"/>
            <a:ext cx="1133700" cy="21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50"/>
          <p:cNvCxnSpPr/>
          <p:nvPr/>
        </p:nvCxnSpPr>
        <p:spPr>
          <a:xfrm>
            <a:off x="2001350" y="3673763"/>
            <a:ext cx="1144200" cy="15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50"/>
          <p:cNvCxnSpPr>
            <a:endCxn id="431" idx="1"/>
          </p:cNvCxnSpPr>
          <p:nvPr/>
        </p:nvCxnSpPr>
        <p:spPr>
          <a:xfrm>
            <a:off x="2001300" y="2781188"/>
            <a:ext cx="1143600" cy="16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50"/>
          <p:cNvCxnSpPr/>
          <p:nvPr/>
        </p:nvCxnSpPr>
        <p:spPr>
          <a:xfrm>
            <a:off x="1985150" y="1957638"/>
            <a:ext cx="1157100" cy="264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50"/>
          <p:cNvSpPr txBox="1"/>
          <p:nvPr/>
        </p:nvSpPr>
        <p:spPr>
          <a:xfrm>
            <a:off x="6362400" y="1157738"/>
            <a:ext cx="21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Actor_id: nm0000439</a:t>
            </a:r>
            <a:endParaRPr/>
          </a:p>
        </p:txBody>
      </p:sp>
      <p:sp>
        <p:nvSpPr>
          <p:cNvPr id="443" name="Google Shape;443;p50"/>
          <p:cNvSpPr txBox="1"/>
          <p:nvPr/>
        </p:nvSpPr>
        <p:spPr>
          <a:xfrm>
            <a:off x="6362400" y="1953038"/>
            <a:ext cx="21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Actor_id: nm1130627</a:t>
            </a:r>
            <a:endParaRPr/>
          </a:p>
        </p:txBody>
      </p:sp>
      <p:sp>
        <p:nvSpPr>
          <p:cNvPr id="444" name="Google Shape;444;p50"/>
          <p:cNvSpPr txBox="1"/>
          <p:nvPr/>
        </p:nvSpPr>
        <p:spPr>
          <a:xfrm>
            <a:off x="6362400" y="2754763"/>
            <a:ext cx="21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Actor_id: nm1102140</a:t>
            </a:r>
            <a:endParaRPr/>
          </a:p>
        </p:txBody>
      </p:sp>
      <p:sp>
        <p:nvSpPr>
          <p:cNvPr id="445" name="Google Shape;445;p50"/>
          <p:cNvSpPr txBox="1"/>
          <p:nvPr/>
        </p:nvSpPr>
        <p:spPr>
          <a:xfrm>
            <a:off x="6362400" y="3461050"/>
            <a:ext cx="21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Actor_id: nm0004989</a:t>
            </a:r>
            <a:endParaRPr/>
          </a:p>
        </p:txBody>
      </p:sp>
      <p:sp>
        <p:nvSpPr>
          <p:cNvPr id="446" name="Google Shape;446;p50"/>
          <p:cNvSpPr txBox="1"/>
          <p:nvPr/>
        </p:nvSpPr>
        <p:spPr>
          <a:xfrm>
            <a:off x="6362400" y="4167363"/>
            <a:ext cx="21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Actor_id: nm0781981</a:t>
            </a:r>
            <a:endParaRPr/>
          </a:p>
        </p:txBody>
      </p:sp>
      <p:cxnSp>
        <p:nvCxnSpPr>
          <p:cNvPr id="447" name="Google Shape;447;p50"/>
          <p:cNvCxnSpPr>
            <a:endCxn id="442" idx="1"/>
          </p:cNvCxnSpPr>
          <p:nvPr/>
        </p:nvCxnSpPr>
        <p:spPr>
          <a:xfrm>
            <a:off x="5686200" y="1356638"/>
            <a:ext cx="6762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50"/>
          <p:cNvCxnSpPr/>
          <p:nvPr/>
        </p:nvCxnSpPr>
        <p:spPr>
          <a:xfrm>
            <a:off x="5686125" y="2152550"/>
            <a:ext cx="6762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50"/>
          <p:cNvCxnSpPr/>
          <p:nvPr/>
        </p:nvCxnSpPr>
        <p:spPr>
          <a:xfrm>
            <a:off x="5686125" y="2954275"/>
            <a:ext cx="6762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5686125" y="3662663"/>
            <a:ext cx="6762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5686125" y="4366875"/>
            <a:ext cx="6762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50"/>
          <p:cNvSpPr txBox="1"/>
          <p:nvPr/>
        </p:nvSpPr>
        <p:spPr>
          <a:xfrm>
            <a:off x="6442700" y="1388150"/>
            <a:ext cx="1133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Neil Patrick Harris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3" name="Google Shape;453;p50"/>
          <p:cNvSpPr txBox="1"/>
          <p:nvPr/>
        </p:nvSpPr>
        <p:spPr>
          <a:xfrm>
            <a:off x="6442700" y="2271600"/>
            <a:ext cx="11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Cobie Smulders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4" name="Google Shape;454;p50"/>
          <p:cNvSpPr txBox="1"/>
          <p:nvPr/>
        </p:nvSpPr>
        <p:spPr>
          <a:xfrm>
            <a:off x="6442700" y="3098750"/>
            <a:ext cx="11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Josh Radnor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5" name="Google Shape;455;p50"/>
          <p:cNvSpPr txBox="1"/>
          <p:nvPr/>
        </p:nvSpPr>
        <p:spPr>
          <a:xfrm>
            <a:off x="6442700" y="3721700"/>
            <a:ext cx="11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Alyson Hannigan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6" name="Google Shape;456;p50"/>
          <p:cNvSpPr txBox="1"/>
          <p:nvPr/>
        </p:nvSpPr>
        <p:spPr>
          <a:xfrm>
            <a:off x="6442700" y="4433663"/>
            <a:ext cx="11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Jason Segel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Age Model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 Overview</a:t>
            </a:r>
            <a:endParaRPr/>
          </a:p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Standard Convolution Neural Network (CNN)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Scalar Regression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Supervised</a:t>
            </a:r>
            <a:r>
              <a:rPr lang="en"/>
              <a:t> Learning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Preprocessing Needed: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Resize + Upscaling (LANCZOS)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Padding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Size: 224 x 224 pixels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Model: custom CNN w/ Efficient Net B0 backbone + pretrained imagenet weights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Loss function: Huber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Optimizer: Adam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Layers: 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Epoch: ~22-25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Batch size: 32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Current Dataset size: 25,000 (UTKface)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Potentially adding more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725" y="1260300"/>
            <a:ext cx="4527601" cy="262291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2"/>
          <p:cNvSpPr txBox="1"/>
          <p:nvPr/>
        </p:nvSpPr>
        <p:spPr>
          <a:xfrm>
            <a:off x="5435775" y="4045775"/>
            <a:ext cx="265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Total Params: 4,399,140 (16.78 MB)</a:t>
            </a:r>
            <a:endParaRPr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3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Model Statistics</a:t>
            </a:r>
            <a:endParaRPr/>
          </a:p>
        </p:txBody>
      </p:sp>
      <p:pic>
        <p:nvPicPr>
          <p:cNvPr id="475" name="Google Shape;47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762" y="346675"/>
            <a:ext cx="2641250" cy="224867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6" name="Google Shape;47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913" y="2809275"/>
            <a:ext cx="2692099" cy="214525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7" name="Google Shape;47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739" y="1253600"/>
            <a:ext cx="3498025" cy="268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78" name="Google Shape;478;p53"/>
          <p:cNvCxnSpPr/>
          <p:nvPr/>
        </p:nvCxnSpPr>
        <p:spPr>
          <a:xfrm>
            <a:off x="3810363" y="3067675"/>
            <a:ext cx="765900" cy="707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53"/>
          <p:cNvSpPr txBox="1"/>
          <p:nvPr/>
        </p:nvSpPr>
        <p:spPr>
          <a:xfrm>
            <a:off x="1428850" y="4119925"/>
            <a:ext cx="19638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MAE: 5.98, Loss: 17.8713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Within 10 years: 82.25%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Within 5 years: 52.84%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Within 2 years: 28.09%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0" name="Google Shape;480;p53"/>
          <p:cNvSpPr txBox="1"/>
          <p:nvPr/>
        </p:nvSpPr>
        <p:spPr>
          <a:xfrm>
            <a:off x="7639625" y="1129250"/>
            <a:ext cx="140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MAE: ~ 6.3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~150,000 images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1" name="Google Shape;481;p53"/>
          <p:cNvSpPr txBox="1"/>
          <p:nvPr/>
        </p:nvSpPr>
        <p:spPr>
          <a:xfrm>
            <a:off x="7639625" y="3632600"/>
            <a:ext cx="140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MAE: ~ 5.98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~17,000 images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"/>
          <p:cNvSpPr txBox="1"/>
          <p:nvPr>
            <p:ph type="title"/>
          </p:nvPr>
        </p:nvSpPr>
        <p:spPr>
          <a:xfrm>
            <a:off x="311700" y="170100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Age Model </a:t>
            </a:r>
            <a:r>
              <a:rPr lang="en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Demonstration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7" name="Google Shape;48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500" y="785550"/>
            <a:ext cx="716074" cy="77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7500" y="1653603"/>
            <a:ext cx="716075" cy="679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7500" y="2425575"/>
            <a:ext cx="716075" cy="75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7501" y="3269625"/>
            <a:ext cx="716075" cy="67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8800" y="4037475"/>
            <a:ext cx="733481" cy="7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64000" y="1863025"/>
            <a:ext cx="4505450" cy="144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54"/>
          <p:cNvCxnSpPr>
            <a:stCxn id="487" idx="3"/>
          </p:cNvCxnSpPr>
          <p:nvPr/>
        </p:nvCxnSpPr>
        <p:spPr>
          <a:xfrm>
            <a:off x="1703574" y="1173425"/>
            <a:ext cx="692400" cy="741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54"/>
          <p:cNvCxnSpPr>
            <a:endCxn id="495" idx="1"/>
          </p:cNvCxnSpPr>
          <p:nvPr/>
        </p:nvCxnSpPr>
        <p:spPr>
          <a:xfrm flipH="1" rot="10800000">
            <a:off x="6236700" y="1235200"/>
            <a:ext cx="1266600" cy="841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54"/>
          <p:cNvCxnSpPr>
            <a:stCxn id="488" idx="3"/>
          </p:cNvCxnSpPr>
          <p:nvPr/>
        </p:nvCxnSpPr>
        <p:spPr>
          <a:xfrm>
            <a:off x="1703575" y="1993435"/>
            <a:ext cx="672600" cy="274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54"/>
          <p:cNvCxnSpPr>
            <a:endCxn id="498" idx="1"/>
          </p:cNvCxnSpPr>
          <p:nvPr/>
        </p:nvCxnSpPr>
        <p:spPr>
          <a:xfrm flipH="1" rot="10800000">
            <a:off x="6055800" y="2018325"/>
            <a:ext cx="1447500" cy="262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54"/>
          <p:cNvCxnSpPr>
            <a:endCxn id="500" idx="1"/>
          </p:cNvCxnSpPr>
          <p:nvPr/>
        </p:nvCxnSpPr>
        <p:spPr>
          <a:xfrm>
            <a:off x="6511800" y="2516750"/>
            <a:ext cx="991500" cy="284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54"/>
          <p:cNvCxnSpPr>
            <a:stCxn id="489" idx="3"/>
          </p:cNvCxnSpPr>
          <p:nvPr/>
        </p:nvCxnSpPr>
        <p:spPr>
          <a:xfrm flipH="1" rot="10800000">
            <a:off x="1703575" y="2480747"/>
            <a:ext cx="660300" cy="320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54"/>
          <p:cNvCxnSpPr>
            <a:endCxn id="503" idx="1"/>
          </p:cNvCxnSpPr>
          <p:nvPr/>
        </p:nvCxnSpPr>
        <p:spPr>
          <a:xfrm>
            <a:off x="6205200" y="2728975"/>
            <a:ext cx="1298100" cy="855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54"/>
          <p:cNvCxnSpPr>
            <a:endCxn id="505" idx="1"/>
          </p:cNvCxnSpPr>
          <p:nvPr/>
        </p:nvCxnSpPr>
        <p:spPr>
          <a:xfrm>
            <a:off x="6268200" y="2972700"/>
            <a:ext cx="1235100" cy="1395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54"/>
          <p:cNvSpPr txBox="1"/>
          <p:nvPr/>
        </p:nvSpPr>
        <p:spPr>
          <a:xfrm>
            <a:off x="7503300" y="958150"/>
            <a:ext cx="13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Predicted: 33.95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Actual: 20 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(~14)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06" name="Google Shape;506;p54"/>
          <p:cNvCxnSpPr>
            <a:stCxn id="490" idx="3"/>
          </p:cNvCxnSpPr>
          <p:nvPr/>
        </p:nvCxnSpPr>
        <p:spPr>
          <a:xfrm flipH="1" rot="10800000">
            <a:off x="1703576" y="2768306"/>
            <a:ext cx="687300" cy="839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54"/>
          <p:cNvCxnSpPr>
            <a:stCxn id="491" idx="3"/>
          </p:cNvCxnSpPr>
          <p:nvPr/>
        </p:nvCxnSpPr>
        <p:spPr>
          <a:xfrm flipH="1" rot="10800000">
            <a:off x="1712281" y="3093050"/>
            <a:ext cx="781800" cy="133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54"/>
          <p:cNvSpPr txBox="1"/>
          <p:nvPr/>
        </p:nvSpPr>
        <p:spPr>
          <a:xfrm>
            <a:off x="7503300" y="1741275"/>
            <a:ext cx="13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Predicted: 98.12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Actual: 95 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(~3)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5" name="Google Shape;505;p54"/>
          <p:cNvSpPr txBox="1"/>
          <p:nvPr/>
        </p:nvSpPr>
        <p:spPr>
          <a:xfrm>
            <a:off x="7503300" y="4090650"/>
            <a:ext cx="13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Predicted: 18.52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Actual: 8 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(~11)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0" name="Google Shape;500;p54"/>
          <p:cNvSpPr txBox="1"/>
          <p:nvPr/>
        </p:nvSpPr>
        <p:spPr>
          <a:xfrm>
            <a:off x="7503300" y="2524400"/>
            <a:ext cx="13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Predicted: 30.97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Actual: 21 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(~10)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3" name="Google Shape;503;p54"/>
          <p:cNvSpPr txBox="1"/>
          <p:nvPr/>
        </p:nvSpPr>
        <p:spPr>
          <a:xfrm>
            <a:off x="7503300" y="3307525"/>
            <a:ext cx="13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Predicted: 51.12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Actual: 56 </a:t>
            </a: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(~5)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5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Reviews (what went right/wrong)</a:t>
            </a:r>
            <a:endParaRPr/>
          </a:p>
        </p:txBody>
      </p:sp>
      <p:sp>
        <p:nvSpPr>
          <p:cNvPr id="513" name="Google Shape;513;p5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Rights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Found decent datasets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Model architecture and hyperparameters are well established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Semi-decent MAE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Wrongs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Bad age distributions in datasets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Initially,</a:t>
            </a:r>
            <a:r>
              <a:rPr lang="en"/>
              <a:t> bad model design of training all feature maps from scratch instead of using pre trained ImageNet weights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Noisy datasets (e.g., IMDB wiki)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Wrong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4" name="Google Shape;5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195" y="1313475"/>
            <a:ext cx="3734875" cy="31797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(improvements)</a:t>
            </a:r>
            <a:endParaRPr/>
          </a:p>
        </p:txBody>
      </p:sp>
      <p:sp>
        <p:nvSpPr>
          <p:cNvPr id="520" name="Google Shape;520;p56"/>
          <p:cNvSpPr txBox="1"/>
          <p:nvPr>
            <p:ph idx="1" type="body"/>
          </p:nvPr>
        </p:nvSpPr>
        <p:spPr>
          <a:xfrm>
            <a:off x="311700" y="1430100"/>
            <a:ext cx="3999900" cy="27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should keep doing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Keep hyperparameters (e.g. batch size, input size, current model setup,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should improve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Find a way to even the distribution of ages in dataset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 Augmentation with ages that are less common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Find new datasets to add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Collect more correctly labelled image data for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5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5309125" y="1758975"/>
            <a:ext cx="3380276" cy="20668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2" name="Google Shape;522;p56"/>
          <p:cNvSpPr txBox="1"/>
          <p:nvPr/>
        </p:nvSpPr>
        <p:spPr>
          <a:xfrm>
            <a:off x="5552600" y="3974525"/>
            <a:ext cx="3136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https://miro.medium.com/v2/resize:fit:1400/1*zcKMFwf_kiPZgY_Ulr2t1g.png</a:t>
            </a:r>
            <a:endParaRPr i="1" sz="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and </a:t>
            </a: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/>
          <p:cNvSpPr txBox="1"/>
          <p:nvPr>
            <p:ph type="title"/>
          </p:nvPr>
        </p:nvSpPr>
        <p:spPr>
          <a:xfrm>
            <a:off x="483175" y="450025"/>
            <a:ext cx="81846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Summary</a:t>
            </a:r>
            <a:endParaRPr/>
          </a:p>
        </p:txBody>
      </p:sp>
      <p:sp>
        <p:nvSpPr>
          <p:cNvPr id="533" name="Google Shape;533;p58"/>
          <p:cNvSpPr txBox="1"/>
          <p:nvPr>
            <p:ph idx="2" type="body"/>
          </p:nvPr>
        </p:nvSpPr>
        <p:spPr>
          <a:xfrm>
            <a:off x="5048000" y="20039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Improving the current models or find ways to fine tune our models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Find a library that will grab unique faces from videos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In case user uploads a short clip instead of an image into our website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Query into TMDB for the movie given model results for age and IMDB IDs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Create UI for input and display</a:t>
            </a:r>
            <a:endParaRPr sz="1300"/>
          </a:p>
        </p:txBody>
      </p:sp>
      <p:sp>
        <p:nvSpPr>
          <p:cNvPr id="534" name="Google Shape;534;p58"/>
          <p:cNvSpPr txBox="1"/>
          <p:nvPr>
            <p:ph idx="1" type="body"/>
          </p:nvPr>
        </p:nvSpPr>
        <p:spPr>
          <a:xfrm>
            <a:off x="483150" y="2101413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We have decided on models and they work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Face Model isn’t tested extensively but it’s been correct so far (overfitting?)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Age Model’s MAE is ~5.9 years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35" name="Google Shape;535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mo"/>
                <a:ea typeface="Arimo"/>
                <a:cs typeface="Arimo"/>
                <a:sym typeface="Arimo"/>
              </a:rPr>
              <a:t>Overall</a:t>
            </a:r>
            <a:endParaRPr b="1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6" name="Google Shape;536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mo"/>
                <a:ea typeface="Arimo"/>
                <a:cs typeface="Arimo"/>
                <a:sym typeface="Arimo"/>
              </a:rPr>
              <a:t>Future Works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cxnSp>
        <p:nvCxnSpPr>
          <p:cNvPr descr="A timeline stretching across several years. " id="542" name="Google Shape;542;p59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43" name="Google Shape;543;p59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Research into how resources required for models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4" name="Google Shape;544;p59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Divide workload for the two models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5" name="Google Shape;545;p59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Mid Review Presentation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6" name="Google Shape;546;p59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Fine tuning or improve our models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7" name="Google Shape;547;p59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Create our UI and the database query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8" name="Google Shape;548;p59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 presentation and Demo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49" name="Google Shape;549;p59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59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59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59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59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59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59"/>
          <p:cNvSpPr/>
          <p:nvPr/>
        </p:nvSpPr>
        <p:spPr>
          <a:xfrm>
            <a:off x="617424" y="2175400"/>
            <a:ext cx="718800" cy="24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Stage 1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6" name="Google Shape;556;p59"/>
          <p:cNvSpPr/>
          <p:nvPr/>
        </p:nvSpPr>
        <p:spPr>
          <a:xfrm>
            <a:off x="2057474" y="2175400"/>
            <a:ext cx="718800" cy="24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Stage 2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7" name="Google Shape;557;p59"/>
          <p:cNvSpPr/>
          <p:nvPr/>
        </p:nvSpPr>
        <p:spPr>
          <a:xfrm>
            <a:off x="3497524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8" name="Google Shape;558;p59"/>
          <p:cNvSpPr/>
          <p:nvPr/>
        </p:nvSpPr>
        <p:spPr>
          <a:xfrm>
            <a:off x="4937574" y="2175400"/>
            <a:ext cx="718800" cy="24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Stage 4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9" name="Google Shape;559;p59"/>
          <p:cNvSpPr/>
          <p:nvPr/>
        </p:nvSpPr>
        <p:spPr>
          <a:xfrm>
            <a:off x="6377624" y="2175400"/>
            <a:ext cx="718800" cy="24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Stage 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0" name="Google Shape;560;p59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1" name="Google Shape;561;p59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2" name="Google Shape;562;p59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3" name="Google Shape;563;p59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4" name="Google Shape;564;p59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5" name="Google Shape;565;p59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6" name="Google Shape;566;p59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0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